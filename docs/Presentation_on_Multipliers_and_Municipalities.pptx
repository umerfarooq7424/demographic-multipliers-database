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888" r:id="rId3"/>
    <p:sldId id="889" r:id="rId4"/>
    <p:sldId id="890" r:id="rId5"/>
    <p:sldId id="891" r:id="rId6"/>
    <p:sldId id="8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 autoAdjust="0"/>
  </p:normalViewPr>
  <p:slideViewPr>
    <p:cSldViewPr snapToGrid="0">
      <p:cViewPr varScale="1">
        <p:scale>
          <a:sx n="104" d="100"/>
          <a:sy n="104" d="100"/>
        </p:scale>
        <p:origin x="26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41129-818D-499A-B3E4-45BC4F903D99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EDD24-A1FE-41D1-B57E-F2B6850C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4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7201-A305-95BB-4E81-3ACF77611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723F9-DFA5-5BAF-294B-D1DED96E7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575AA-4C7E-37E6-0234-5732A868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DC29F-2D12-1383-C3BD-5D293F1F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4D979-8CFC-BE8A-AA86-98FF1B29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icture 3">
            <a:extLst>
              <a:ext uri="{FF2B5EF4-FFF2-40B4-BE49-F238E27FC236}">
                <a16:creationId xmlns:a16="http://schemas.microsoft.com/office/drawing/2014/main" id="{B00A59D5-73AA-5863-2379-393DB9100A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480" y="136525"/>
            <a:ext cx="1829325" cy="53111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581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1217-4C11-426D-541D-66BECC32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E7FE2-E66F-528B-2B9E-CCB4DECD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AD1B-607B-A5AA-CF85-99550CE9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45451-42B3-3331-3F37-5F984E10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7C60E-8668-7963-9BF1-BB9F9DE4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2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DBB39-08A5-B21B-EE73-E3A8A3D9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79574-55C4-4127-68A5-15E310637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9B641-4047-8FBF-6A75-DEDC051B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07387-8EBA-6D03-58F7-CCD24201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F28AA-90EA-A1E3-243E-83832733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7957-0E20-7E17-252C-EA5F579B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09823-64D0-0517-A29E-3FDF1FCD4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743CB-FEFF-01A0-FA05-CC1DC043F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F38D5-53DF-A7FF-2E8B-9F861D95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8CF38-C4B6-C79B-6C3B-87B43021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29C89-C496-9FD8-3946-E9258C29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9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2F6F-549F-C643-8476-8A318D6B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BD9B3-9A38-E40D-B680-C9721CB2C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75E87-A315-78AD-0ABB-843FCB1F7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06854-2206-FD89-5CFA-A945A963B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63551-71A1-3F72-449E-AD015C652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3B8438-1AA0-45E2-4CC5-ADAA1FD4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13D8A-00BC-EFE9-CFF7-9349619C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4E101-7C09-3E46-3C01-0959090F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D16D-9DEC-AB92-7361-16BBB66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FF134-70F9-86BC-C37D-7EB1A96C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F118C-DA93-9399-0B38-C82C278B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061BB-4E21-1126-16DB-B60F68FA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3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A2D27-5878-5368-C9DC-3AF06DEA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8D054-21E9-BF65-E074-8B24755C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E45FD-27A1-D203-9037-D5976AC2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5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B50D-5DA0-BBF5-0169-2B2FE0D2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FD248-12E8-22F8-DEA0-CA945E44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B1837-C49A-F9C1-FC77-A920A4FE2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6A427-8FE1-3002-8A74-6ACCC004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9DB1C-C268-3AB5-7D28-BEABCFA9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A1E40-83D7-71EF-FFB3-1B5D2BF9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9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235F-85B1-1C20-3E52-7F343548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8B5A4-C820-F22D-092B-2A1EF37DA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3F8B1-0C36-B7FA-6A33-7D0045873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09DFA-35E6-B80C-4A09-C35E307F9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86260-C949-EB68-CBB7-1C6FB307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DC6F0-EF89-1E80-73E6-8CA36B3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4B92-9F2D-E0D2-E035-C6312D5F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3640D-F3C9-6ED7-EA05-108803E14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648A-AE2C-FF66-6E87-1D04376D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497B2-DD21-D325-4E0E-29D458E5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39559-D22B-4FFA-0366-CF45951E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8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8CA20-4C7A-81B9-8BCB-2B5A1175F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FDB5E-3E91-8E62-36CD-388DDBB7D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E5EC5-4E0D-D82F-30A1-58DC3961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7067-B200-CF68-59DA-D18F6569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5180C-0038-8F5D-3B6E-EBAA08A6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2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553967" y="732865"/>
            <a:ext cx="9144000" cy="4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Corbel" panose="020B0503020204020204" pitchFamily="34" charset="0"/>
                <a:ea typeface="Corbel" panose="020B0503020204020204" pitchFamily="34" charset="0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Quicksand"/>
              <a:buNone/>
              <a:defRPr sz="2400"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553997" y="1449065"/>
            <a:ext cx="9144000" cy="49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 rtl="0">
              <a:spcBef>
                <a:spcPts val="80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Quicksand"/>
              <a:buChar char="◦"/>
              <a:defRPr sz="4000">
                <a:solidFill>
                  <a:srgbClr val="F3F3F3"/>
                </a:solidFill>
                <a:latin typeface="Corbel" panose="020B0503020204020204" pitchFamily="34" charset="0"/>
                <a:ea typeface="Corbel" panose="020B0503020204020204" pitchFamily="34" charset="0"/>
                <a:cs typeface="Quicksand"/>
                <a:sym typeface="Quicksand"/>
              </a:defRPr>
            </a:lvl1pPr>
            <a:lvl2pPr marL="1219170" lvl="1" indent="-50798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▫"/>
              <a:defRPr sz="32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828754" lvl="2" indent="-50798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■"/>
              <a:defRPr sz="32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364209" y="6336175"/>
            <a:ext cx="731600" cy="4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Corbel" panose="020B0503020204020204" pitchFamily="34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9" name="Google Shape;29;p5"/>
          <p:cNvCxnSpPr/>
          <p:nvPr/>
        </p:nvCxnSpPr>
        <p:spPr>
          <a:xfrm>
            <a:off x="1249867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/>
          <p:nvPr/>
        </p:nvSpPr>
        <p:spPr>
          <a:xfrm>
            <a:off x="1154877" y="807725"/>
            <a:ext cx="190000" cy="190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orbel" panose="020B0503020204020204" pitchFamily="34" charset="0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1115249" y="1867628"/>
            <a:ext cx="269200" cy="26920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D0011-F8AE-87DC-DD4E-9D8D0ACC8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1FDBA-85F5-DD67-5DE6-C07DAD67D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4F69E-D9C8-361C-CC49-207BCF25F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F59C2-424B-43DE-A677-0247A08AF9A8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38309-FF5C-3756-5F9E-6D6A5DA38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505AF-59EE-CA34-0CC2-3B5560789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A0B94-877C-4B06-9C3E-B7BC248A6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6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30DE41-41D2-5617-1D91-42E0CB8CB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7780"/>
            <a:ext cx="9144000" cy="1417713"/>
          </a:xfrm>
        </p:spPr>
        <p:txBody>
          <a:bodyPr>
            <a:normAutofit/>
          </a:bodyPr>
          <a:lstStyle/>
          <a:p>
            <a:r>
              <a:rPr lang="en-US" i="1" dirty="0"/>
              <a:t>Umer Farooq</a:t>
            </a:r>
          </a:p>
          <a:p>
            <a:r>
              <a:rPr lang="en-US" dirty="0"/>
              <a:t>Rutgers Center for Urban Policy Research</a:t>
            </a:r>
          </a:p>
          <a:p>
            <a:r>
              <a:rPr lang="en-US" dirty="0"/>
              <a:t>Dec 16, 2024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666634-E8B7-70A1-E677-EB3CB5C00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0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Demographics Multipliers and Municipality Public Finance</a:t>
            </a:r>
          </a:p>
        </p:txBody>
      </p:sp>
    </p:spTree>
    <p:extLst>
      <p:ext uri="{BB962C8B-B14F-4D97-AF65-F5344CB8AC3E}">
        <p14:creationId xmlns:p14="http://schemas.microsoft.com/office/powerpoint/2010/main" val="124830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B0D9-CDC7-E3F3-3367-0685F8F8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885" y="633017"/>
            <a:ext cx="9144000" cy="460000"/>
          </a:xfrm>
        </p:spPr>
        <p:txBody>
          <a:bodyPr/>
          <a:lstStyle/>
          <a:p>
            <a:pPr algn="ctr"/>
            <a:r>
              <a:rPr lang="en-US" sz="3200" b="1" dirty="0"/>
              <a:t>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822E0-D54A-E619-634D-479D87036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25" y="1213052"/>
            <a:ext cx="1867104" cy="4781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640F8B-A057-D4FA-5DDA-09ABD448A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61" y="1213052"/>
            <a:ext cx="4489500" cy="4703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49E0BB-A9C9-5041-0295-C69377F49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761" y="1213052"/>
            <a:ext cx="4251115" cy="11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4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0EDE-30F2-7FBB-130F-9AEF19A9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57C3-2F24-2DFC-EFB8-D25E23E7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885" y="633017"/>
            <a:ext cx="9144000" cy="460000"/>
          </a:xfrm>
        </p:spPr>
        <p:txBody>
          <a:bodyPr/>
          <a:lstStyle/>
          <a:p>
            <a:pPr algn="ctr"/>
            <a:r>
              <a:rPr lang="en-US" sz="3200" dirty="0"/>
              <a:t>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2E2AB-AD77-BFBB-D56D-5DA9A704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258" y="1640179"/>
            <a:ext cx="4900742" cy="52178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EF76C8-4634-57A8-E830-1570F85D9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32" y="1694985"/>
            <a:ext cx="5731365" cy="46345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43C298-A3C4-00FC-00BF-C74A43C8E566}"/>
              </a:ext>
            </a:extLst>
          </p:cNvPr>
          <p:cNvSpPr txBox="1"/>
          <p:nvPr/>
        </p:nvSpPr>
        <p:spPr>
          <a:xfrm>
            <a:off x="1469885" y="639531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https://demographics-rutgers.streamlit.app/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380895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8AE5-2F53-1333-24D1-E12960A2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Impacts and ongoing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567DE-EC09-33BB-ED28-074D7EA3E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D607F-856A-B82E-3D34-CD7B06663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67" y="1540994"/>
            <a:ext cx="8251833" cy="43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6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6820-0BD4-2820-D859-DB6783E4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2289-FC5B-971B-F226-784DA868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Impacts and Ongoing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70BD9-593D-FD13-F1EE-EF41312F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 algn="l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1. Environmenta</a:t>
            </a:r>
            <a:r>
              <a:rPr lang="en-US" sz="3200" dirty="0">
                <a:solidFill>
                  <a:srgbClr val="000000"/>
                </a:solidFill>
                <a:latin typeface="Aptos" panose="020B0004020202020204" pitchFamily="34" charset="0"/>
              </a:rPr>
              <a:t>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challenges + Buyouts – Map (</a:t>
            </a:r>
          </a:p>
          <a:p>
            <a:pPr marL="50799" indent="0" algn="l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2. Env Challenge + Real Estate Activity – Map ()</a:t>
            </a:r>
          </a:p>
          <a:p>
            <a:pPr marL="50799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Aptos" panose="020B0004020202020204" pitchFamily="34" charset="0"/>
              </a:rPr>
              <a:t>3.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Per capita impact on Market value and Property tax revenue - Bar graphs (same format as State and County Totals</a:t>
            </a:r>
          </a:p>
          <a:p>
            <a:pPr marL="50799" indent="0" algn="l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4. Percentage property tax impact and Moody's Municipal Bond Ratings (table)</a:t>
            </a:r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6827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67D81-3700-F836-F0E6-22C0287C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D3DC-B8CF-D85F-E37C-BEA1E240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Impacts and Future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05AB4-FA70-18FD-0D32-6970BA1F4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799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endParaRPr lang="en-US" sz="6000" dirty="0"/>
          </a:p>
        </p:txBody>
      </p:sp>
      <p:pic>
        <p:nvPicPr>
          <p:cNvPr id="4" name="Picture 3" descr="A diagram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CFF31B16-8681-28BD-218D-A96C673BB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727" y="1282614"/>
            <a:ext cx="5651983" cy="47811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4CCA2-C649-9043-38FF-695222CD3A19}"/>
              </a:ext>
            </a:extLst>
          </p:cNvPr>
          <p:cNvSpPr txBox="1"/>
          <p:nvPr/>
        </p:nvSpPr>
        <p:spPr>
          <a:xfrm>
            <a:off x="6626333" y="1282614"/>
            <a:ext cx="51933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sz="3200" dirty="0"/>
              <a:t>Total Valuation Loss </a:t>
            </a:r>
          </a:p>
          <a:p>
            <a:pPr marL="742950" indent="-742950">
              <a:buAutoNum type="arabicPeriod"/>
            </a:pPr>
            <a:r>
              <a:rPr lang="en-US" sz="3200" dirty="0"/>
              <a:t>Fiscal Loss</a:t>
            </a:r>
          </a:p>
          <a:p>
            <a:r>
              <a:rPr lang="en-US" sz="3200" dirty="0"/>
              <a:t>3. Acreages Loss</a:t>
            </a:r>
          </a:p>
          <a:p>
            <a:r>
              <a:rPr lang="en-US" sz="3200" dirty="0"/>
              <a:t>4. GDP</a:t>
            </a:r>
          </a:p>
          <a:p>
            <a:r>
              <a:rPr lang="en-US" sz="3200" dirty="0"/>
              <a:t>5. Age, Health, Income</a:t>
            </a:r>
          </a:p>
          <a:p>
            <a:r>
              <a:rPr lang="en-US" sz="3200" dirty="0"/>
              <a:t>6. Property Type</a:t>
            </a:r>
          </a:p>
        </p:txBody>
      </p:sp>
    </p:spTree>
    <p:extLst>
      <p:ext uri="{BB962C8B-B14F-4D97-AF65-F5344CB8AC3E}">
        <p14:creationId xmlns:p14="http://schemas.microsoft.com/office/powerpoint/2010/main" val="427826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7642</TotalTime>
  <Words>124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Corbel</vt:lpstr>
      <vt:lpstr>Quicksand</vt:lpstr>
      <vt:lpstr>Office Theme</vt:lpstr>
      <vt:lpstr>Demographics Multipliers and Municipality Public Finance</vt:lpstr>
      <vt:lpstr>Interface</vt:lpstr>
      <vt:lpstr>Interface</vt:lpstr>
      <vt:lpstr>Flooding Impacts and ongoing research</vt:lpstr>
      <vt:lpstr>Flooding Impacts and Ongoing Research</vt:lpstr>
      <vt:lpstr>Flooding Impacts and 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Yousaf Shahid</dc:creator>
  <cp:lastModifiedBy>Umer Farooq</cp:lastModifiedBy>
  <cp:revision>13</cp:revision>
  <dcterms:created xsi:type="dcterms:W3CDTF">2024-11-01T14:29:35Z</dcterms:created>
  <dcterms:modified xsi:type="dcterms:W3CDTF">2024-12-17T17:02:58Z</dcterms:modified>
</cp:coreProperties>
</file>